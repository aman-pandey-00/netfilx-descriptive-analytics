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14"/>
  </p:notes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5" r:id="rId9"/>
    <p:sldId id="261" r:id="rId10"/>
    <p:sldId id="262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C692DD4-A480-475B-B56E-C37B90D0D60A}">
          <p14:sldIdLst>
            <p14:sldId id="256"/>
            <p14:sldId id="257"/>
            <p14:sldId id="258"/>
            <p14:sldId id="263"/>
            <p14:sldId id="259"/>
            <p14:sldId id="264"/>
            <p14:sldId id="260"/>
            <p14:sldId id="265"/>
            <p14:sldId id="261"/>
            <p14:sldId id="262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CE50D8-64D2-4B65-A184-57A1473AECA2}" v="133" dt="2025-11-20T11:36:59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3B74-EFE1-417A-AE6F-A3DAB2920626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09426-4AAB-4025-A325-4107DE69A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277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09426-4AAB-4025-A325-4107DE69A8C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54315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75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40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60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40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7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06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48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7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9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10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857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877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53" r:id="rId6"/>
    <p:sldLayoutId id="2147483858" r:id="rId7"/>
    <p:sldLayoutId id="2147483854" r:id="rId8"/>
    <p:sldLayoutId id="2147483855" r:id="rId9"/>
    <p:sldLayoutId id="2147483856" r:id="rId10"/>
    <p:sldLayoutId id="214748385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3.jpg"/><Relationship Id="rId7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07A0313-E1D6-4E0D-09B2-9AA514567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B1FE1-D400-6215-155E-89A840D1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168" y="2414017"/>
            <a:ext cx="4082265" cy="2200275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pPr algn="r"/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IBM COGNOS ANALYTICS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80DABA8-E552-B07B-EAAC-B294903F2A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518168" y="1581912"/>
            <a:ext cx="3473656" cy="39425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Dataset: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netflix_titles.csv</a:t>
            </a:r>
          </a:p>
          <a:p>
            <a:pPr marL="57150" marR="0" lvl="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en-US" altLang="en-US" i="0" dirty="0">
              <a:solidFill>
                <a:srgbClr val="FFFFFF"/>
              </a:solidFill>
            </a:endParaRP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Group Members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dirty="0">
                <a:solidFill>
                  <a:srgbClr val="FFFFFF"/>
                </a:solidFill>
              </a:rPr>
              <a:t>Aman Kr Panday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cap="none" dirty="0">
                <a:solidFill>
                  <a:srgbClr val="FFFFFF"/>
                </a:solidFill>
              </a:rPr>
              <a:t>Abhishek Dwivedi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cap="none" dirty="0">
                <a:solidFill>
                  <a:srgbClr val="FFFFFF"/>
                </a:solidFill>
              </a:rPr>
              <a:t>Aman Bhardwaj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cap="none" dirty="0">
                <a:solidFill>
                  <a:srgbClr val="FFFFFF"/>
                </a:solidFill>
              </a:rPr>
              <a:t>Akhil Raj </a:t>
            </a:r>
            <a:r>
              <a:rPr lang="en-US" altLang="en-US" dirty="0">
                <a:solidFill>
                  <a:srgbClr val="FFFFFF"/>
                </a:solidFill>
              </a:rPr>
              <a:t>P</a:t>
            </a:r>
            <a:r>
              <a:rPr lang="en-US" altLang="en-US" cap="none" dirty="0">
                <a:solidFill>
                  <a:srgbClr val="FFFFFF"/>
                </a:solidFill>
              </a:rPr>
              <a:t>atel</a:t>
            </a:r>
          </a:p>
          <a:p>
            <a:pPr marL="342900" marR="0" lvl="0" indent="-3429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cap="none" dirty="0">
                <a:solidFill>
                  <a:srgbClr val="FFFFFF"/>
                </a:solidFill>
              </a:rPr>
              <a:t>Aman Kumar Panday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031EDC0-2599-0208-2261-D165F9B519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97" y="571609"/>
            <a:ext cx="7254907" cy="122826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5A09F60-F85F-7080-3983-C0633201B9D1}"/>
              </a:ext>
            </a:extLst>
          </p:cNvPr>
          <p:cNvSpPr txBox="1"/>
          <p:nvPr/>
        </p:nvSpPr>
        <p:spPr>
          <a:xfrm>
            <a:off x="4279392" y="552656"/>
            <a:ext cx="34330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/>
              <a:t>DESCRIPTIVE ANALYTICS</a:t>
            </a:r>
            <a:endParaRPr lang="en-IN" sz="3500" b="1" dirty="0"/>
          </a:p>
        </p:txBody>
      </p:sp>
      <p:pic>
        <p:nvPicPr>
          <p:cNvPr id="29" name="Picture 28" descr="A logo with blue and purple arrows&#10;&#10;AI-generated content may be incorrect.">
            <a:extLst>
              <a:ext uri="{FF2B5EF4-FFF2-40B4-BE49-F238E27FC236}">
                <a16:creationId xmlns:a16="http://schemas.microsoft.com/office/drawing/2014/main" id="{20E7D4A5-3FDA-9606-6A30-B97666AE87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20" y="2414016"/>
            <a:ext cx="3247356" cy="2200275"/>
          </a:xfrm>
          <a:prstGeom prst="rect">
            <a:avLst/>
          </a:prstGeom>
        </p:spPr>
      </p:pic>
      <p:pic>
        <p:nvPicPr>
          <p:cNvPr id="33" name="Picture 32" descr="A logo for a company&#10;&#10;AI-generated content may be incorrect.">
            <a:extLst>
              <a:ext uri="{FF2B5EF4-FFF2-40B4-BE49-F238E27FC236}">
                <a16:creationId xmlns:a16="http://schemas.microsoft.com/office/drawing/2014/main" id="{FF663914-EA87-DCD3-A925-67F38C7392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380" y="619148"/>
            <a:ext cx="1050795" cy="109528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8F441C9-D2EC-D0F9-1190-5DF12C0CFC86}"/>
              </a:ext>
            </a:extLst>
          </p:cNvPr>
          <p:cNvSpPr txBox="1"/>
          <p:nvPr/>
        </p:nvSpPr>
        <p:spPr>
          <a:xfrm>
            <a:off x="326572" y="5247381"/>
            <a:ext cx="52980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Course:</a:t>
            </a:r>
            <a:r>
              <a:rPr lang="en-IN" dirty="0"/>
              <a:t> BCA – Data Science &amp; AI (3rd Semester)</a:t>
            </a:r>
            <a:br>
              <a:rPr lang="en-IN" dirty="0"/>
            </a:br>
            <a:r>
              <a:rPr lang="en-IN" dirty="0"/>
              <a:t> </a:t>
            </a:r>
            <a:r>
              <a:rPr lang="en-IN" sz="2000" b="1" dirty="0"/>
              <a:t>Babu Banarasi Das University, Lucknow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9264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8294"/>
    </mc:Choice>
    <mc:Fallback xmlns="">
      <p:transition spd="slow" advTm="82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  <p:bldP spid="19" grpId="0"/>
      <p:bldP spid="4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8010CF0-4400-D984-FB7D-BDF1F69294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B83B5-279B-7BF2-A523-90C552297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5067300" cy="34970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</a:rPr>
              <a:t>Introduction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2904437B-EDB5-997D-E3BF-3D2C5C8875F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04089" y="2256466"/>
            <a:ext cx="6364224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Description: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</a:t>
            </a:r>
            <a:r>
              <a:rPr lang="en-US" dirty="0"/>
              <a:t>This dataset contains data from Netflix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                     movies &amp; TV shows.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Tool: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</a:t>
            </a:r>
            <a:r>
              <a:rPr lang="en-US" dirty="0"/>
              <a:t>We used IBM Cognos Analytics to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                     </a:t>
            </a:r>
            <a:r>
              <a:rPr lang="en-US" dirty="0" err="1"/>
              <a:t>analyse</a:t>
            </a:r>
            <a:r>
              <a:rPr lang="en-US" dirty="0"/>
              <a:t> and </a:t>
            </a:r>
            <a:r>
              <a:rPr lang="en-US" dirty="0" err="1"/>
              <a:t>visualise</a:t>
            </a:r>
            <a:r>
              <a:rPr lang="en-US" dirty="0"/>
              <a:t> the data.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Problems Selected: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</a:t>
            </a:r>
            <a:r>
              <a:rPr lang="en-IN" sz="1800" dirty="0"/>
              <a:t>Year-wise Title Count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</a:t>
            </a:r>
            <a:r>
              <a:rPr lang="en-US" altLang="en-US" sz="1800" dirty="0"/>
              <a:t>Movies vs TV Shows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</a:t>
            </a:r>
            <a:r>
              <a:rPr lang="en-US" sz="1800" dirty="0"/>
              <a:t>Yearly Title Count (Using Exploration)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Pie Chart Percentage Share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                  </a:t>
            </a:r>
            <a:r>
              <a:rPr lang="en-IN" sz="1800" dirty="0"/>
              <a:t>Country-wise title count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3D7E8F4-E445-9DA8-E437-A973B72B83F0}"/>
              </a:ext>
            </a:extLst>
          </p:cNvPr>
          <p:cNvSpPr/>
          <p:nvPr/>
        </p:nvSpPr>
        <p:spPr>
          <a:xfrm>
            <a:off x="1489558" y="2763709"/>
            <a:ext cx="250830" cy="134165"/>
          </a:xfrm>
          <a:prstGeom prst="rightArrow">
            <a:avLst/>
          </a:prstGeom>
          <a:solidFill>
            <a:srgbClr val="002060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AC00834-0CE7-B7FC-65FE-53A3015BD3FC}"/>
              </a:ext>
            </a:extLst>
          </p:cNvPr>
          <p:cNvSpPr/>
          <p:nvPr/>
        </p:nvSpPr>
        <p:spPr>
          <a:xfrm>
            <a:off x="1489558" y="3661922"/>
            <a:ext cx="250830" cy="134165"/>
          </a:xfrm>
          <a:prstGeom prst="rightArrow">
            <a:avLst/>
          </a:prstGeom>
          <a:solidFill>
            <a:srgbClr val="002060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5D87AAE-C36A-494E-90B4-ADC11CECE21B}"/>
              </a:ext>
            </a:extLst>
          </p:cNvPr>
          <p:cNvSpPr/>
          <p:nvPr/>
        </p:nvSpPr>
        <p:spPr>
          <a:xfrm>
            <a:off x="1489558" y="5340040"/>
            <a:ext cx="250830" cy="134165"/>
          </a:xfrm>
          <a:prstGeom prst="rightArrow">
            <a:avLst/>
          </a:prstGeom>
          <a:solidFill>
            <a:srgbClr val="002060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F94CB47-B79D-23CF-1AE6-903AB4EA543D}"/>
              </a:ext>
            </a:extLst>
          </p:cNvPr>
          <p:cNvSpPr/>
          <p:nvPr/>
        </p:nvSpPr>
        <p:spPr>
          <a:xfrm>
            <a:off x="1489558" y="4537689"/>
            <a:ext cx="250830" cy="134165"/>
          </a:xfrm>
          <a:prstGeom prst="rightArrow">
            <a:avLst/>
          </a:prstGeom>
          <a:solidFill>
            <a:srgbClr val="002060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634AFA7-8492-BED9-F734-671193FD9151}"/>
              </a:ext>
            </a:extLst>
          </p:cNvPr>
          <p:cNvSpPr/>
          <p:nvPr/>
        </p:nvSpPr>
        <p:spPr>
          <a:xfrm>
            <a:off x="1489558" y="4816992"/>
            <a:ext cx="250830" cy="134165"/>
          </a:xfrm>
          <a:prstGeom prst="rightArrow">
            <a:avLst/>
          </a:prstGeom>
          <a:solidFill>
            <a:srgbClr val="002060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2AF692C-38CE-F986-92A8-46932F02771B}"/>
              </a:ext>
            </a:extLst>
          </p:cNvPr>
          <p:cNvSpPr/>
          <p:nvPr/>
        </p:nvSpPr>
        <p:spPr>
          <a:xfrm>
            <a:off x="1489558" y="5096295"/>
            <a:ext cx="250830" cy="134165"/>
          </a:xfrm>
          <a:prstGeom prst="rightArrow">
            <a:avLst/>
          </a:prstGeom>
          <a:solidFill>
            <a:srgbClr val="002060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EA28F5F-7054-9106-D77D-5E6E6EBE96F7}"/>
              </a:ext>
            </a:extLst>
          </p:cNvPr>
          <p:cNvSpPr/>
          <p:nvPr/>
        </p:nvSpPr>
        <p:spPr>
          <a:xfrm>
            <a:off x="1489558" y="5619343"/>
            <a:ext cx="250830" cy="134165"/>
          </a:xfrm>
          <a:prstGeom prst="rightArrow">
            <a:avLst/>
          </a:prstGeom>
          <a:solidFill>
            <a:srgbClr val="002060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3" name="Picture 92" descr="slide2_screenshot_edi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388" y="2515439"/>
            <a:ext cx="5782401" cy="331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95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  <p:bldP spid="8" grpId="0" animBg="1"/>
      <p:bldP spid="9" grpId="0" animBg="1"/>
      <p:bldP spid="10" grpId="0" animBg="1"/>
      <p:bldP spid="12" grpId="0" animBg="1"/>
      <p:bldP spid="14" grpId="0" animBg="1"/>
      <p:bldP spid="16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BA7B60D-3D8B-A2E3-AF2A-6E56791ECAA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F0A2A-7755-7A16-EADD-713689D1B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69" y="871759"/>
            <a:ext cx="10496189" cy="82641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IN" sz="5400" cap="none" dirty="0"/>
              <a:t>Year-wise title count</a:t>
            </a:r>
            <a:endParaRPr lang="en-US" sz="5400" cap="none" dirty="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46575C1B-7186-A9E1-80E0-7C1A2A20D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958" y="2361620"/>
            <a:ext cx="4159101" cy="3624621"/>
          </a:xfrm>
          <a:prstGeom prst="rect">
            <a:avLst/>
          </a:prstGeom>
        </p:spPr>
      </p:pic>
      <p:sp>
        <p:nvSpPr>
          <p:cNvPr id="23" name="Rectangle 9">
            <a:extLst>
              <a:ext uri="{FF2B5EF4-FFF2-40B4-BE49-F238E27FC236}">
                <a16:creationId xmlns:a16="http://schemas.microsoft.com/office/drawing/2014/main" id="{013B254D-0F79-DC79-D00F-368C2349750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33265" y="2361620"/>
            <a:ext cx="6297710" cy="3698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Used the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release_year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column from the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Created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 Report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IBM Cognos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Added two fields: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release_year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show_id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Grouped the rows by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release_year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Applied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show_id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calculate the number of titles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released per year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Sorted all years in ascending 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many Netflix titles came out every year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growth trends over time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Useful to understand Netflix’s “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expansion and production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strategy”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output clearly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year-by-year increase in titles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938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7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75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75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75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75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75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75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75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75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75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750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1750"/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0EDC82E-CBC0-DE96-948D-303F93DF0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3C81B-2DE3-1840-0AB8-5A2A64025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71759"/>
            <a:ext cx="5067300" cy="976403"/>
          </a:xfrm>
        </p:spPr>
        <p:txBody>
          <a:bodyPr anchor="t">
            <a:normAutofit/>
          </a:bodyPr>
          <a:lstStyle/>
          <a:p>
            <a:r>
              <a:rPr lang="en-IN" dirty="0"/>
              <a:t> </a:t>
            </a:r>
            <a:r>
              <a:rPr lang="en-IN" b="1" cap="none" dirty="0"/>
              <a:t>Insights:</a:t>
            </a:r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B4202FB1-9D84-B402-0C48-53AE3FA96DE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4088" y="2118810"/>
            <a:ext cx="8850630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Netflix has been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releasing more titles every year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 steady upward trend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expansion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platform.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Earlier years have fewer titles → Netflix was still growing.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Recent years show a sharp rise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investment in content production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Year-wise data reveals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 strategy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Netflix.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E77D9-56C7-029E-7403-6D29F3278381}"/>
              </a:ext>
            </a:extLst>
          </p:cNvPr>
          <p:cNvSpPr txBox="1"/>
          <p:nvPr/>
        </p:nvSpPr>
        <p:spPr>
          <a:xfrm>
            <a:off x="704088" y="5897880"/>
            <a:ext cx="11132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Netflix’s yearly releases show a strong upward trend, reflecting continuous growth in content production.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345545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EA52D16-DC81-4EAF-C3A8-8D787F849DA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60D5D-EF0D-410D-FB0A-47D04D9CD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75" y="914755"/>
            <a:ext cx="6771321" cy="96572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altLang="en-US" sz="5400" cap="none" dirty="0"/>
              <a:t>Movies vs TV Shows</a:t>
            </a:r>
            <a:br>
              <a:rPr lang="en-US" altLang="en-US" sz="5400" cap="none" dirty="0"/>
            </a:b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">
            <a:extLst>
              <a:ext uri="{FF2B5EF4-FFF2-40B4-BE49-F238E27FC236}">
                <a16:creationId xmlns:a16="http://schemas.microsoft.com/office/drawing/2014/main" id="{D71920F7-EF7D-6901-04A5-4B98092F184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17475" y="2071329"/>
            <a:ext cx="5391912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Selected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field (Movie / TV Show)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Added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 /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counting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separate Movies and TV Shows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Applied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calculate total titles under each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comparison shows which category is more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produced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Highlights Netflix’s content strategy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Helps understand whether Netflix focuses more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Movies or Shows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Final result: Movies ≈ 3211, TV Shows ≈ 1789     (Number </a:t>
            </a:r>
            <a:r>
              <a:rPr lang="en-US" altLang="en-US" sz="1800" dirty="0">
                <a:latin typeface="Arial" panose="020B0604020202020204" pitchFamily="34" charset="0"/>
              </a:rPr>
              <a:t>of Movies &amp; TV show by title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50B8D42-0D29-B680-FEB9-CBE725354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387" y="2436711"/>
            <a:ext cx="5277587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62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17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7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7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175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75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17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175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175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175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175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1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8F437C6-F7A0-A0B7-0F19-4FC93278C20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EB673-58ED-7157-31BF-0C166AB1A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10687812" cy="9657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5400" dirty="0"/>
              <a:t> </a:t>
            </a:r>
            <a:r>
              <a:rPr lang="en-IN" sz="5400" b="1" cap="none" dirty="0"/>
              <a:t>Insights:</a:t>
            </a: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0B772FEC-F91A-71B7-04DA-BFF19CAF956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00100" y="2136844"/>
            <a:ext cx="9418320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Movies are </a:t>
            </a:r>
            <a:r>
              <a:rPr lang="en-US" altLang="en-US" sz="1800" b="1" dirty="0">
                <a:latin typeface="Arial" panose="020B0604020202020204" pitchFamily="34" charset="0"/>
              </a:rPr>
              <a:t>higher in count</a:t>
            </a:r>
            <a:r>
              <a:rPr lang="en-US" altLang="en-US" sz="1800" dirty="0">
                <a:latin typeface="Arial" panose="020B0604020202020204" pitchFamily="34" charset="0"/>
              </a:rPr>
              <a:t> than TV Shows.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Netflix’s library is more </a:t>
            </a:r>
            <a:r>
              <a:rPr lang="en-US" altLang="en-US" sz="1800" b="1" dirty="0">
                <a:latin typeface="Arial" panose="020B0604020202020204" pitchFamily="34" charset="0"/>
              </a:rPr>
              <a:t>movie-dominated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TV shows are increasing but still </a:t>
            </a:r>
            <a:r>
              <a:rPr lang="en-US" altLang="en-US" sz="1800" b="1" dirty="0">
                <a:latin typeface="Arial" panose="020B0604020202020204" pitchFamily="34" charset="0"/>
              </a:rPr>
              <a:t>less than movies</a:t>
            </a:r>
            <a:r>
              <a:rPr lang="en-US" altLang="en-US" sz="1800" dirty="0">
                <a:latin typeface="Arial" panose="020B0604020202020204" pitchFamily="34" charset="0"/>
              </a:rPr>
              <a:t> in total numbers.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Indicates Netflix focuses more on </a:t>
            </a:r>
            <a:r>
              <a:rPr lang="en-US" altLang="en-US" sz="1800" b="1" dirty="0">
                <a:latin typeface="Arial" panose="020B0604020202020204" pitchFamily="34" charset="0"/>
              </a:rPr>
              <a:t>movies for variety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 Category comparison gives a clear idea of </a:t>
            </a:r>
            <a:r>
              <a:rPr lang="en-US" altLang="en-US" sz="1800" b="1" dirty="0">
                <a:latin typeface="Arial" panose="020B0604020202020204" pitchFamily="34" charset="0"/>
              </a:rPr>
              <a:t>content distribution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9804F-962A-608D-A1E5-4F4395C6E2C4}"/>
              </a:ext>
            </a:extLst>
          </p:cNvPr>
          <p:cNvSpPr txBox="1"/>
          <p:nvPr/>
        </p:nvSpPr>
        <p:spPr>
          <a:xfrm>
            <a:off x="800100" y="5870448"/>
            <a:ext cx="939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Movies dominate Netflix’s content library, showing higher contribution than TV Shows.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30462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609A78D-050E-A3CF-B118-08C6E9D6B27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35574-7F47-30C7-A980-E07F74BCF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10853928" cy="34970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900" cap="none" dirty="0"/>
              <a:t>Yearly title count (using exploration)</a:t>
            </a:r>
            <a:endParaRPr lang="en-US" sz="4900" cap="none" dirty="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2674D-5B83-F165-DE08-FCCBEE40F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164703"/>
            <a:ext cx="7208271" cy="4254753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Using Exploration to show total Netflix titles released each year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Opened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Exploration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in IBM Cognos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Added the dataset as the data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Selected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Single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Visualisation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Choose the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Line Chart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visual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Dragged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release_year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to the X-axis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Dragged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show_id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to the Y-axis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Applied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Summarize → Count(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show_id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chart displays the “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total titles released each year”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Helps visualize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yearly growth in Netflix content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D7A813-04B0-04C8-316E-197A2A7B0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353" y="2613320"/>
            <a:ext cx="4301389" cy="369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49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7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7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7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7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7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7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7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75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75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04B4F1D-818F-ABDD-7B1E-934FDCEC6D7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FD958-1F7B-DA7F-01E8-D391CCE86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9976104" cy="11582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5400" dirty="0"/>
              <a:t> </a:t>
            </a:r>
            <a:r>
              <a:rPr lang="en-IN" sz="5400" b="1" cap="none" dirty="0"/>
              <a:t>Insights:</a:t>
            </a: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98BD9-09D5-9BDE-DA1F-3952AB20E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10049256" cy="33162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line chart shows a </a:t>
            </a:r>
            <a:r>
              <a:rPr lang="en-US" sz="1800" b="1" dirty="0"/>
              <a:t>consistent upward trend</a:t>
            </a:r>
            <a:r>
              <a:rPr lang="en-US" sz="1800" dirty="0"/>
              <a:t> in yearly releases.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Visual analysis confirms that Netflix </a:t>
            </a:r>
            <a:r>
              <a:rPr lang="en-US" sz="1800" b="1" dirty="0"/>
              <a:t>grew rapidly over the years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Peaks in the chart represent years with </a:t>
            </a:r>
            <a:r>
              <a:rPr lang="en-US" sz="1800" b="1" dirty="0"/>
              <a:t>massive content release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trend line clearly reflects Netflix’s rising </a:t>
            </a:r>
            <a:r>
              <a:rPr lang="en-US" sz="1800" b="1" dirty="0"/>
              <a:t>global influence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Helps understand </a:t>
            </a:r>
            <a:r>
              <a:rPr lang="en-US" sz="1800" b="1" dirty="0"/>
              <a:t>how content production has changed over time</a:t>
            </a:r>
            <a:r>
              <a:rPr lang="en-US" sz="1800" dirty="0"/>
              <a:t>.</a:t>
            </a:r>
          </a:p>
          <a:p>
            <a:endParaRPr lang="en-IN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B4011D-6122-DDE9-EE3A-2F1963E52FA6}"/>
              </a:ext>
            </a:extLst>
          </p:cNvPr>
          <p:cNvSpPr txBox="1"/>
          <p:nvPr/>
        </p:nvSpPr>
        <p:spPr>
          <a:xfrm>
            <a:off x="800100" y="5760720"/>
            <a:ext cx="10452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Netflix’s yearly releases have consistently increased, showing strong growth in content production.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44090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7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7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7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7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D2A64F9-1D7D-55E2-EE6E-A3BFDA177EB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F03D7-1B68-5D0C-CBF5-3E216D3EF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531" y="871759"/>
            <a:ext cx="11196734" cy="913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900" cap="none" dirty="0"/>
              <a:t>Pie chart (movies vs TV shows % share)</a:t>
            </a:r>
            <a:endParaRPr lang="en-US" sz="4900" cap="none" dirty="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98C04C85-BBE4-15BD-6D97-888010BF5EE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66530" y="1740937"/>
            <a:ext cx="5704494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Pie 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IBM Cognos Exploration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(Size)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(Segment)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Summarize → 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numerical values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Turned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Percentage Display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Pie chart gives a clear visual comparison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share of Movies vs TV Shows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Easy to understand distribution at a glance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Output (example):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Movies ≈ 35.8%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TV Shows ≈ 64.2%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B5BF7A-4A2D-3774-0B53-06C0F2710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277" y="1962508"/>
            <a:ext cx="5162076" cy="4003024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872A66E-3D41-E6F8-830F-B2FAB030DD10}"/>
              </a:ext>
            </a:extLst>
          </p:cNvPr>
          <p:cNvSpPr/>
          <p:nvPr/>
        </p:nvSpPr>
        <p:spPr>
          <a:xfrm>
            <a:off x="800100" y="5666959"/>
            <a:ext cx="250830" cy="134165"/>
          </a:xfrm>
          <a:prstGeom prst="rightArrow">
            <a:avLst/>
          </a:prstGeom>
          <a:solidFill>
            <a:srgbClr val="002060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3C83595-7A46-0764-FE64-1E1A3F9E4AC2}"/>
              </a:ext>
            </a:extLst>
          </p:cNvPr>
          <p:cNvSpPr/>
          <p:nvPr/>
        </p:nvSpPr>
        <p:spPr>
          <a:xfrm>
            <a:off x="800100" y="6067017"/>
            <a:ext cx="250830" cy="134165"/>
          </a:xfrm>
          <a:prstGeom prst="rightArrow">
            <a:avLst/>
          </a:prstGeom>
          <a:solidFill>
            <a:srgbClr val="002060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3358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1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1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1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1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1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1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1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1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1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1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1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/>
      <p:bldP spid="14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73F944C-1CCB-2028-AB0B-CC8EC1B543E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01FDB-A90F-0942-54AD-88900253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77" y="871758"/>
            <a:ext cx="10562252" cy="83573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IN" sz="5400" dirty="0"/>
              <a:t> </a:t>
            </a:r>
            <a:r>
              <a:rPr lang="en-IN" sz="5400" b="1" cap="none" dirty="0"/>
              <a:t>Insights:</a:t>
            </a: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A8B6E794-E10E-57F7-BEC7-2B5C403ADB9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41177" y="2511182"/>
            <a:ext cx="11271378" cy="2418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pie chart clearly shows which category </a:t>
            </a:r>
            <a:r>
              <a:rPr lang="en-US" sz="1800" b="1" dirty="0"/>
              <a:t>dominates the platform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Movies and TV Shows share a </a:t>
            </a:r>
            <a:r>
              <a:rPr lang="en-US" sz="1800" b="1" dirty="0"/>
              <a:t>balanced but distinct</a:t>
            </a:r>
            <a:r>
              <a:rPr lang="en-US" sz="1800" dirty="0"/>
              <a:t> percentage.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Easy to understand the </a:t>
            </a:r>
            <a:r>
              <a:rPr lang="en-US" sz="1800" b="1" dirty="0"/>
              <a:t>overall content ratio</a:t>
            </a:r>
            <a:r>
              <a:rPr lang="en-US" sz="1800" dirty="0"/>
              <a:t> visually.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Helps identify which category Netflix invests in more.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Visual percentage gives a </a:t>
            </a:r>
            <a:r>
              <a:rPr lang="en-US" sz="1800" b="1" dirty="0"/>
              <a:t>quick summary of content distribution</a:t>
            </a:r>
            <a:r>
              <a:rPr lang="en-US" sz="18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30"/>
              </a:spcBef>
              <a:spcAft>
                <a:spcPts val="130"/>
              </a:spcAft>
              <a:buClrTx/>
              <a:buSzTx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201C0-94AB-8B63-E2B4-3CAB6A349761}"/>
              </a:ext>
            </a:extLst>
          </p:cNvPr>
          <p:cNvSpPr txBox="1"/>
          <p:nvPr/>
        </p:nvSpPr>
        <p:spPr>
          <a:xfrm>
            <a:off x="640080" y="5358384"/>
            <a:ext cx="11115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•   The pie chart clearly highlights which category (Movies or TV Shows) has a larger share on Netflix.</a:t>
            </a:r>
            <a:br>
              <a:rPr lang="en-US" dirty="0"/>
            </a:br>
            <a:r>
              <a:rPr lang="en-US" b="1" dirty="0"/>
              <a:t>•   This distribution reflects Netflix’s strategy to invest more in the category with higher viewer engagement.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568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7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7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F7A91C9-3739-CBF6-6F82-FB4A1101B8B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934AD7-70BA-AD00-08D1-C673D4C0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" y="871760"/>
            <a:ext cx="11265408" cy="13136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4900" cap="none" dirty="0"/>
              <a:t>Country-wise title count</a:t>
            </a:r>
            <a:endParaRPr lang="en-US" sz="4900" cap="none" dirty="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A393B512-101F-C00E-4E70-6FEECACB7C8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29184" y="2736081"/>
            <a:ext cx="7205472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field from the dataset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 Report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Grouped titles based on country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Summarize → Count(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show_id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which countries have the highest number of Netflix titles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understand content distribution across regions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Very useful for identifying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content availability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F2525F-FABF-2548-3404-6C116FE9B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102" y="2185416"/>
            <a:ext cx="3407194" cy="420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76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7F11960-5C1E-8EBA-D767-3174777F720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1F187-B203-B267-E2B9-58A06D1D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9217152" cy="13136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5400" dirty="0"/>
              <a:t> </a:t>
            </a:r>
            <a:r>
              <a:rPr lang="en-IN" sz="5400" b="1" cap="none" dirty="0"/>
              <a:t>Insights:</a:t>
            </a: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E67CF-B57A-D86C-AF43-3EA895294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10524744" cy="33162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Some countries have </a:t>
            </a:r>
            <a:r>
              <a:rPr lang="en-US" sz="1800" b="1" dirty="0"/>
              <a:t>much higher content availability</a:t>
            </a:r>
            <a:r>
              <a:rPr lang="en-US" sz="1800" dirty="0"/>
              <a:t> than others.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 The United States, India, and the UK appear among the </a:t>
            </a:r>
            <a:r>
              <a:rPr lang="en-US" sz="1800" b="1" dirty="0"/>
              <a:t>top contributors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Shows how Netflix targets different </a:t>
            </a:r>
            <a:r>
              <a:rPr lang="en-US" sz="1800" b="1" dirty="0"/>
              <a:t>regions and markets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Indicates </a:t>
            </a:r>
            <a:r>
              <a:rPr lang="en-US" sz="1800" b="1" dirty="0"/>
              <a:t>regional content dominance</a:t>
            </a:r>
            <a:r>
              <a:rPr lang="en-US" sz="1800" dirty="0"/>
              <a:t> and user preferences.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Helps </a:t>
            </a:r>
            <a:r>
              <a:rPr lang="en-US" sz="1800" dirty="0" err="1"/>
              <a:t>analyse</a:t>
            </a:r>
            <a:r>
              <a:rPr lang="en-US" sz="1800" dirty="0"/>
              <a:t> which countries have a </a:t>
            </a:r>
            <a:r>
              <a:rPr lang="en-US" sz="1800" b="1" dirty="0"/>
              <a:t>strong Netflix presence</a:t>
            </a:r>
            <a:r>
              <a:rPr lang="en-US" sz="1800" dirty="0"/>
              <a:t>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0AF7A7-942D-2FCC-3A38-2ED0EC577700}"/>
              </a:ext>
            </a:extLst>
          </p:cNvPr>
          <p:cNvSpPr txBox="1"/>
          <p:nvPr/>
        </p:nvSpPr>
        <p:spPr>
          <a:xfrm>
            <a:off x="800101" y="5504688"/>
            <a:ext cx="11059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list report reveals that certain countries, especially the US and India, contribute the highest number of Netflix titles.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77952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7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7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7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7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7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926</Words>
  <Application>Microsoft Office PowerPoint</Application>
  <PresentationFormat>Widescreen</PresentationFormat>
  <Paragraphs>114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Calisto MT</vt:lpstr>
      <vt:lpstr>Univers Condensed</vt:lpstr>
      <vt:lpstr>Wingdings</vt:lpstr>
      <vt:lpstr>ChronicleVTI</vt:lpstr>
      <vt:lpstr>IBM COGNOS ANALYTICS</vt:lpstr>
      <vt:lpstr>Introduction</vt:lpstr>
      <vt:lpstr>Year-wise title count</vt:lpstr>
      <vt:lpstr> Insights:</vt:lpstr>
      <vt:lpstr>Movies vs TV Shows </vt:lpstr>
      <vt:lpstr> Insights:</vt:lpstr>
      <vt:lpstr>Yearly title count (using exploration)</vt:lpstr>
      <vt:lpstr> Insights:</vt:lpstr>
      <vt:lpstr>Pie chart (movies vs TV shows % share)</vt:lpstr>
      <vt:lpstr> Insights:</vt:lpstr>
      <vt:lpstr>Country-wise title count</vt:lpstr>
      <vt:lpstr> Insights: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Kr Panday</dc:creator>
  <cp:lastModifiedBy>Aman Kr Panday</cp:lastModifiedBy>
  <cp:revision>3</cp:revision>
  <dcterms:created xsi:type="dcterms:W3CDTF">2025-11-20T06:48:24Z</dcterms:created>
  <dcterms:modified xsi:type="dcterms:W3CDTF">2025-11-20T11:38:52Z</dcterms:modified>
</cp:coreProperties>
</file>